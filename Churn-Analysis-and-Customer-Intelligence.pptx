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"/>
      <p:regular r:id="rId201314"/>
    </p:embeddedFont>
    <p:embeddedFont>
      <p:font typeface="Montserrat SemiBold"/>
      <p:regular r:id="rId201315"/>
    </p:embeddedFont>
    <p:embeddedFont>
      <p:font typeface="Montserrat Bold"/>
      <p:regular r:id="rId201316"/>
    </p:embeddedFont>
    <p:embeddedFont>
      <p:font typeface="Montserrat Black"/>
      <p:regular r:id="rId201317"/>
    </p:embeddedFont>
    <p:embeddedFont>
      <p:font typeface="Source Sans 3"/>
      <p:regular r:id="rId201318"/>
    </p:embeddedFont>
    <p:embeddedFont>
      <p:font typeface="Source Sans 3 SemiBold"/>
      <p:regular r:id="rId201319"/>
    </p:embeddedFont>
    <p:embeddedFont>
      <p:font typeface="Source Sans 3 Bold"/>
      <p:regular r:id="rId201320"/>
    </p:embeddedFont>
    <p:embeddedFont>
      <p:font typeface="Source Sans 3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2536130"/>
            <a:ext cx="6180181" cy="116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Churn Analysis &amp; Customer Intelligence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19814" y="4013398"/>
            <a:ext cx="678976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Dattatreya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590080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Business Challenge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91700" y="2482949"/>
            <a:ext cx="2987203" cy="1443831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5497375" y="2688630"/>
            <a:ext cx="2575853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OTT Landscape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97375" y="3104158"/>
            <a:ext cx="2575853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Netflix, Hotstar, Prime — hyper-competitive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84578" y="2482949"/>
            <a:ext cx="2987303" cy="1443831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690254" y="2688630"/>
            <a:ext cx="257595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Role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90254" y="3104158"/>
            <a:ext cx="2575952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Analyst identifying high-risk subscribers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91700" y="4132461"/>
            <a:ext cx="6180181" cy="1135360"/>
          </a:xfrm>
          <a:prstGeom prst="roundRect">
            <a:avLst>
              <a:gd name="adj" fmla="val 271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5497375" y="4338141"/>
            <a:ext cx="576883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97375" y="4753670"/>
            <a:ext cx="576883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Demographics, subscription tiers, support escalations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230213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Tech Stack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2225973"/>
            <a:ext cx="514139" cy="5141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2997200"/>
            <a:ext cx="5247449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&amp; Python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19814" y="3412728"/>
            <a:ext cx="5247449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numpy, pandas, sqlite3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333" y="2225973"/>
            <a:ext cx="514139" cy="514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4333" y="2997200"/>
            <a:ext cx="5247548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Engineering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24333" y="3412728"/>
            <a:ext cx="5247548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cleaning, feature engineering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4132560"/>
            <a:ext cx="514139" cy="5141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814" y="4903788"/>
            <a:ext cx="5247449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Visualization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19814" y="5319316"/>
            <a:ext cx="5247449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matplotlib, seaborn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4333" y="4132560"/>
            <a:ext cx="514139" cy="5141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24333" y="4903788"/>
            <a:ext cx="5247548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Actionable Insights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24333" y="5319316"/>
            <a:ext cx="5247548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Business-ready reporting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47812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Churn Analysis Roadmap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172" y="1743571"/>
            <a:ext cx="8361352" cy="3826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17472" y="4675378"/>
            <a:ext cx="1569763" cy="27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Report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39139" y="4675378"/>
            <a:ext cx="1569763" cy="27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Analyze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371559" y="4675378"/>
            <a:ext cx="1569764" cy="27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Clean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360972" y="4675378"/>
            <a:ext cx="1569764" cy="27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Connect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9814" y="5801717"/>
            <a:ext cx="1136165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pipeline from raw data to billion-dollar business insights.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Churn Definition by Business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9814" y="3560266"/>
            <a:ext cx="5860209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Churn analysis answers three questions: </a:t>
            </a:r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Who</a:t>
            </a:r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left, </a:t>
            </a:r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Why</a:t>
            </a:r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they left, and </a:t>
            </a:r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When</a:t>
            </a:r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the danger zone.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607" y="992783"/>
            <a:ext cx="5250624" cy="5250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Schema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992783"/>
            <a:ext cx="5250624" cy="52507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7607" y="3165971"/>
            <a:ext cx="525062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Database: customer_churn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7607" y="3363416"/>
            <a:ext cx="5250624" cy="382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94000"/>
              </a:lnSpc>
              <a:buSzPct val="100000"/>
              <a:buChar char="•"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db_customer</a:t>
            </a:r>
            <a:pPr algn="l" marL="162560" indent="-162560">
              <a:lnSpc>
                <a:spcPct val="94000"/>
              </a:lnSpc>
              <a:buSzPct val="100000"/>
              <a:buChar char="•"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demographics &amp; interests</a:t>
            </a:r>
            <a:endParaRPr lang="en-US" sz="800" dirty="0"/>
          </a:p>
          <a:p>
            <a:pPr algn="l" marL="162560" indent="-162560">
              <a:lnSpc>
                <a:spcPct val="94000"/>
              </a:lnSpc>
              <a:buSzPct val="100000"/>
              <a:buChar char="•"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db_subscription</a:t>
            </a:r>
            <a:pPr algn="l" marL="162560" indent="-162560">
              <a:lnSpc>
                <a:spcPct val="94000"/>
              </a:lnSpc>
              <a:buSzPct val="100000"/>
              <a:buChar char="•"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plans, charges, churn_score</a:t>
            </a:r>
            <a:endParaRPr lang="en-US" sz="800" dirty="0"/>
          </a:p>
          <a:p>
            <a:pPr algn="l" marL="162560" indent="-162560">
              <a:lnSpc>
                <a:spcPct val="94000"/>
              </a:lnSpc>
              <a:buSzPct val="100000"/>
              <a:buChar char="•"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db_support</a:t>
            </a:r>
            <a:pPr algn="l" marL="162560" indent="-162560">
              <a:lnSpc>
                <a:spcPct val="94000"/>
              </a:lnSpc>
              <a:buSzPct val="100000"/>
              <a:buChar char="•"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complaints, escalations, CSAT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227607" y="3804245"/>
            <a:ext cx="5250624" cy="259556"/>
          </a:xfrm>
          <a:prstGeom prst="roundRect">
            <a:avLst>
              <a:gd name="adj" fmla="val 5943"/>
            </a:avLst>
          </a:prstGeom>
          <a:solidFill>
            <a:srgbClr val="E4E4E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95" y="3881338"/>
            <a:ext cx="128485" cy="102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1668" y="3876179"/>
            <a:ext cx="5423360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three tables linked via </a:t>
            </a:r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customerid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183184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KPIs &amp; Formulas</a:t>
            </a:r>
            <a:endParaRPr lang="en-US" sz="36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9814" y="2178943"/>
          <a:ext cx="9143771" cy="914400"/>
        </p:xfrm>
        <a:graphic>
          <a:graphicData uri="http://schemas.openxmlformats.org/drawingml/2006/table">
            <a:tbl>
              <a:tblPr/>
              <a:tblGrid>
                <a:gridCol w="3225620"/>
                <a:gridCol w="7526447"/>
              </a:tblGrid>
              <a:tr h="574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Churn Rate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Churned / Total customers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0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Retention Rate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1 − Churn Rate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0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ARPU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SUM(monthly_charges) / Active customers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0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Avg Tenure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AVG(DATEDIFF(cancellation_date OR NOW(), start_date))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0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Revenue at Risk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SUM(monthly_charges) WHERE churn_score &gt; 70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Escalation Rate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SUM(escalations) / COUNT(complaints) × 100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92944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1791494"/>
            <a:ext cx="5247449" cy="6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spc="-53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28.6%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719814" y="2727226"/>
            <a:ext cx="5247449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Churn Rate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9814" y="3142754"/>
            <a:ext cx="5247449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Retention: 71.4%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24333" y="1791494"/>
            <a:ext cx="5247548" cy="6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spc="-53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55.6%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6224333" y="2727226"/>
            <a:ext cx="5247548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Monthly Churn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24333" y="3142754"/>
            <a:ext cx="5247548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vs 8.3% annual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814" y="3965377"/>
            <a:ext cx="5247449" cy="6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spc="-53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₹18.8</a:t>
            </a:r>
            <a:endParaRPr lang="en-US" sz="5300" dirty="0"/>
          </a:p>
        </p:txBody>
      </p:sp>
      <p:sp>
        <p:nvSpPr>
          <p:cNvPr id="10" name="Text 8"/>
          <p:cNvSpPr/>
          <p:nvPr/>
        </p:nvSpPr>
        <p:spPr>
          <a:xfrm>
            <a:off x="719814" y="4901109"/>
            <a:ext cx="5247449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ARPU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9814" y="5316637"/>
            <a:ext cx="5247449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tenure: 1,451 days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24333" y="3965377"/>
            <a:ext cx="5247548" cy="67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spc="-53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18%</a:t>
            </a:r>
            <a:endParaRPr lang="en-US" sz="5300" dirty="0"/>
          </a:p>
        </p:txBody>
      </p:sp>
      <p:sp>
        <p:nvSpPr>
          <p:cNvPr id="13" name="Text 11"/>
          <p:cNvSpPr/>
          <p:nvPr/>
        </p:nvSpPr>
        <p:spPr>
          <a:xfrm>
            <a:off x="6224333" y="4901109"/>
            <a:ext cx="5247548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Loss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24333" y="5316637"/>
            <a:ext cx="5247548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₹74 lost, CLTV: ₹2,047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9814" y="5856486"/>
            <a:ext cx="1136165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churn: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Basic plan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Sep 2024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Karnataka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Low revenue impact — focus on high/med risk cohorts.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917476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Action Items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905" y="1816695"/>
            <a:ext cx="308463" cy="3084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88234" y="1810345"/>
            <a:ext cx="551176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Investigate Karnataka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388234" y="2225873"/>
            <a:ext cx="551176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Price hikes? Complaints? Tech issues?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905" y="2952055"/>
            <a:ext cx="308463" cy="3084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88234" y="2945705"/>
            <a:ext cx="551176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Audit Basic Plan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388234" y="3361234"/>
            <a:ext cx="551176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Recent changes in September?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905" y="4087416"/>
            <a:ext cx="308463" cy="3084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88234" y="4081066"/>
            <a:ext cx="551176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Competitor Check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388234" y="4496594"/>
            <a:ext cx="551176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switching — why?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6905" y="5222776"/>
            <a:ext cx="308463" cy="30847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88234" y="5216426"/>
            <a:ext cx="551176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Proactive Outreach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388234" y="5631954"/>
            <a:ext cx="551176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Email, SMS, calls to high/med risk customers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3136801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3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2026-09-06T06:48:30Z</dcterms:created>
  <dcterms:modified xsi:type="dcterms:W3CDTF">2026-09-06T06:48:30Z</dcterms:modified>
</cp:coreProperties>
</file>